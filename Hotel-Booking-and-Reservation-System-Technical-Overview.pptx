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6" r:id="rId7"/>
    <p:sldId id="264" r:id="rId8"/>
    <p:sldId id="267" r:id="rId9"/>
    <p:sldId id="269" r:id="rId10"/>
    <p:sldId id="261" r:id="rId11"/>
    <p:sldId id="268" r:id="rId12"/>
    <p:sldId id="263" r:id="rId13"/>
    <p:sldId id="265" r:id="rId14"/>
    <p:sldId id="270" r:id="rId15"/>
    <p:sldId id="271" r:id="rId16"/>
  </p:sldIdLst>
  <p:sldSz cx="14630400" cy="8229600"/>
  <p:notesSz cx="8229600" cy="14630400"/>
  <p:embeddedFontLst>
    <p:embeddedFont>
      <p:font typeface="Gill Sans MT" panose="020B0502020104020203" pitchFamily="34" charset="0"/>
      <p:regular r:id="rId18"/>
      <p:bold r:id="rId19"/>
      <p:italic r:id="rId20"/>
      <p:boldItalic r:id="rId21"/>
    </p:embeddedFont>
    <p:embeddedFont>
      <p:font typeface="Berlin Sans FB Demi" panose="020E0802020502020306" pitchFamily="34" charset="0"/>
      <p:bold r:id="rId22"/>
    </p:embeddedFont>
    <p:embeddedFont>
      <p:font typeface="Myanmar Text" panose="020B0502040204020203" pitchFamily="34" charset="0"/>
      <p:regular r:id="rId23"/>
      <p:bold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MS PGothic" panose="020B0600070205080204" pitchFamily="34" charset="-128"/>
      <p:regular r:id="rId29"/>
    </p:embeddedFont>
    <p:embeddedFont>
      <p:font typeface="Geist" panose="020B0604020202020204" charset="0"/>
      <p:regular r:id="rId30"/>
    </p:embeddedFont>
    <p:embeddedFont>
      <p:font typeface="Segoe UI Emoji" panose="020B0502040204020203" pitchFamily="34" charset="0"/>
      <p:regular r:id="rId31"/>
    </p:embeddedFont>
    <p:embeddedFont>
      <p:font typeface="Yu Gothic Medium" panose="020B0500000000000000" pitchFamily="34" charset="-128"/>
      <p:regular r:id="rId32"/>
    </p:embeddedFont>
    <p:embeddedFont>
      <p:font typeface="MS Reference Sans Serif" panose="020B0604030504040204" pitchFamily="34" charset="0"/>
      <p:regular r:id="rId3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3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1023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01335" y="962758"/>
            <a:ext cx="10364488" cy="3049717"/>
          </a:xfrm>
        </p:spPr>
        <p:txBody>
          <a:bodyPr bIns="0" anchor="b">
            <a:normAutofit/>
          </a:bodyPr>
          <a:lstStyle>
            <a:lvl1pPr algn="l">
              <a:defRPr sz="7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01336" y="4237446"/>
            <a:ext cx="10364486" cy="117314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2160" b="0" cap="all" baseline="0">
                <a:solidFill>
                  <a:schemeClr val="tx1"/>
                </a:solidFill>
              </a:defRPr>
            </a:lvl1pPr>
            <a:lvl2pPr marL="548640" indent="0" algn="ctr">
              <a:buNone/>
              <a:defRPr sz="216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9801" y="395169"/>
            <a:ext cx="5968698" cy="37104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5197" y="958767"/>
            <a:ext cx="973223" cy="604294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901336" y="4234250"/>
            <a:ext cx="1036448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667005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02529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5087" y="2107356"/>
            <a:ext cx="10371785" cy="2265540"/>
          </a:xfrm>
        </p:spPr>
        <p:txBody>
          <a:bodyPr anchor="b">
            <a:normAutofit/>
          </a:bodyPr>
          <a:lstStyle>
            <a:lvl1pPr algn="l">
              <a:defRPr sz="43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5087" y="4567435"/>
            <a:ext cx="10356535" cy="1215515"/>
          </a:xfrm>
        </p:spPr>
        <p:txBody>
          <a:bodyPr tIns="91440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45087" y="4565982"/>
            <a:ext cx="103565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562156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9061" y="965867"/>
            <a:ext cx="11526762" cy="127116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6797" y="2413054"/>
            <a:ext cx="5574182" cy="41383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96525" y="2420812"/>
            <a:ext cx="5574182" cy="41298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93464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6630" y="964996"/>
            <a:ext cx="11529193" cy="126758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6629" y="2423459"/>
            <a:ext cx="5574182" cy="9623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640" b="0" cap="all" baseline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6629" y="3389124"/>
            <a:ext cx="5574182" cy="317334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94835" y="2427604"/>
            <a:ext cx="5574182" cy="96268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640" b="0" cap="all" baseline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94835" y="3385790"/>
            <a:ext cx="5574182" cy="316484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86835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828155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64456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3606" y="958768"/>
            <a:ext cx="3927719" cy="2696540"/>
          </a:xfrm>
        </p:spPr>
        <p:txBody>
          <a:bodyPr anchor="b">
            <a:normAutofit/>
          </a:bodyPr>
          <a:lstStyle>
            <a:lvl1pPr algn="l"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52457" y="958769"/>
            <a:ext cx="7214964" cy="5590591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3606" y="3846590"/>
            <a:ext cx="3930016" cy="2697817"/>
          </a:xfrm>
        </p:spPr>
        <p:txBody>
          <a:bodyPr/>
          <a:lstStyle>
            <a:lvl1pPr marL="0" indent="0" algn="l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737936" y="3846589"/>
            <a:ext cx="392338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300137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8972865" y="578605"/>
            <a:ext cx="4889440" cy="617892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1447" y="1355416"/>
            <a:ext cx="6638794" cy="2196701"/>
          </a:xfrm>
        </p:spPr>
        <p:txBody>
          <a:bodyPr anchor="b">
            <a:normAutofit/>
          </a:bodyPr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49268" y="1347051"/>
            <a:ext cx="3349405" cy="4639592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40395" y="3775191"/>
            <a:ext cx="6629285" cy="2404490"/>
          </a:xfrm>
        </p:spPr>
        <p:txBody>
          <a:bodyPr>
            <a:normAutofit/>
          </a:bodyPr>
          <a:lstStyle>
            <a:lvl1pPr marL="0" indent="0" algn="l">
              <a:buNone/>
              <a:defRPr sz="216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736859" y="6563828"/>
            <a:ext cx="6632821" cy="384148"/>
          </a:xfrm>
        </p:spPr>
        <p:txBody>
          <a:bodyPr/>
          <a:lstStyle>
            <a:lvl1pPr algn="l">
              <a:defRPr/>
            </a:lvl1pPr>
          </a:lstStyle>
          <a:p>
            <a:fld id="{4509A250-FF31-4206-8172-F9D3106AACB1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36858" y="382369"/>
            <a:ext cx="6649205" cy="38511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736859" y="3772326"/>
            <a:ext cx="663282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929537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744675" y="2216506"/>
            <a:ext cx="1152902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981638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26933" y="958768"/>
            <a:ext cx="1938890" cy="559186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3606" y="958768"/>
            <a:ext cx="9394596" cy="559186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1326933" y="958768"/>
            <a:ext cx="0" cy="559186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401944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894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06570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15556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34706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99676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77769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12336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47971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66284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946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423372"/>
            <a:ext cx="14630400" cy="4927129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7351776"/>
            <a:ext cx="14630400" cy="89154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41895" y="965423"/>
            <a:ext cx="11523930" cy="12590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41895" y="2418879"/>
            <a:ext cx="11523930" cy="4140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64966" y="396445"/>
            <a:ext cx="4200858" cy="371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41895" y="395169"/>
            <a:ext cx="7126603" cy="371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6073" y="958767"/>
            <a:ext cx="973223" cy="60429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3360">
                <a:solidFill>
                  <a:schemeClr val="accent1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7354096"/>
            <a:ext cx="146304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546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384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120000"/>
        </a:lnSpc>
        <a:spcBef>
          <a:spcPts val="12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16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92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8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120000"/>
        </a:lnSpc>
        <a:spcBef>
          <a:spcPts val="6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4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2155746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6747"/>
                </a:solidFill>
                <a:latin typeface="Yu Gothic Medium" panose="020B0500000000000000" pitchFamily="34" charset="-128"/>
                <a:ea typeface="Yu Gothic Medium" panose="020B0500000000000000" pitchFamily="34" charset="-128"/>
                <a:cs typeface="Noto Serif SC Bold" pitchFamily="34" charset="-120"/>
              </a:rPr>
              <a:t>Hotel Booking &amp; Reservation System Re-modeling</a:t>
            </a:r>
            <a:endParaRPr lang="en-US" sz="4450" dirty="0">
              <a:latin typeface="Yu Gothic Medium" panose="020B0500000000000000" pitchFamily="34" charset="-128"/>
              <a:ea typeface="Yu Gothic Medium" panose="020B0500000000000000" pitchFamily="34" charset="-128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62224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presentation explains the problem, objectives, architecture, processes, data model, security, and expected outcomes for a digital hotel reservation platform.</a:t>
            </a:r>
            <a:endParaRPr lang="en-US" sz="175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8B26244-CA52-48D2-AED0-C26FD2FC914C}"/>
              </a:ext>
            </a:extLst>
          </p:cNvPr>
          <p:cNvSpPr/>
          <p:nvPr/>
        </p:nvSpPr>
        <p:spPr>
          <a:xfrm>
            <a:off x="9923646" y="4590673"/>
            <a:ext cx="3676851" cy="234163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IC 1202 - Information System Modeling</a:t>
            </a:r>
          </a:p>
          <a:p>
            <a:endParaRPr lang="en-US" dirty="0"/>
          </a:p>
          <a:p>
            <a:r>
              <a:rPr lang="en-US" dirty="0"/>
              <a:t>H. Hasan</a:t>
            </a:r>
          </a:p>
          <a:p>
            <a:r>
              <a:rPr lang="en-US" dirty="0"/>
              <a:t>V. </a:t>
            </a:r>
            <a:r>
              <a:rPr lang="en-US" dirty="0" err="1"/>
              <a:t>Sathusrshan</a:t>
            </a:r>
            <a:endParaRPr lang="en-US" dirty="0"/>
          </a:p>
          <a:p>
            <a:r>
              <a:rPr lang="en-US" dirty="0"/>
              <a:t>J. N. </a:t>
            </a:r>
            <a:r>
              <a:rPr lang="en-US" dirty="0" err="1"/>
              <a:t>Hathun</a:t>
            </a:r>
            <a:endParaRPr lang="en-US" dirty="0"/>
          </a:p>
          <a:p>
            <a:r>
              <a:rPr lang="en-US" dirty="0"/>
              <a:t>K. </a:t>
            </a:r>
            <a:r>
              <a:rPr lang="en-US" dirty="0" err="1"/>
              <a:t>Jenistalan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226686-DA84-440D-9EC3-CE50158468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2149" y="506123"/>
            <a:ext cx="3324465" cy="38793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202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35843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6747"/>
                </a:solidFill>
                <a:latin typeface="Myanmar Text" panose="020B0502040204020203" pitchFamily="34" charset="0"/>
                <a:ea typeface="Noto Serif SC Bold" pitchFamily="34" charset="-122"/>
                <a:cs typeface="Myanmar Text" panose="020B0502040204020203" pitchFamily="34" charset="0"/>
              </a:rPr>
              <a:t>Problem Statement(As we investigated</a:t>
            </a:r>
          </a:p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6747"/>
                </a:solidFill>
                <a:latin typeface="Myanmar Text" panose="020B0502040204020203" pitchFamily="34" charset="0"/>
                <a:ea typeface="Noto Serif SC Bold" pitchFamily="34" charset="-122"/>
                <a:cs typeface="Myanmar Text" panose="020B0502040204020203" pitchFamily="34" charset="0"/>
              </a:rPr>
              <a:t>An existing normal hotel booking system)</a:t>
            </a:r>
            <a:endParaRPr lang="en-US" sz="3550" dirty="0">
              <a:latin typeface="Myanmar Text" panose="020B0502040204020203" pitchFamily="34" charset="0"/>
              <a:cs typeface="Myanmar Text" panose="020B0502040204020203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224873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Manual, paper-based booking processes cause frequent errors, double-bookings, lost records, slow billing, and poor reporting. These issues lead to guest dissatisfaction, revenue leakage, and inefficient staff workflows.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3592592"/>
            <a:ext cx="3664744" cy="3295293"/>
          </a:xfrm>
          <a:prstGeom prst="roundRect">
            <a:avLst>
              <a:gd name="adj" fmla="val 6195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28224" y="38270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Myanmar Text" panose="020B0502040204020203" pitchFamily="34" charset="0"/>
                <a:ea typeface="Noto Serif SC Bold" pitchFamily="34" charset="-122"/>
                <a:cs typeface="Myanmar Text" panose="020B0502040204020203" pitchFamily="34" charset="0"/>
              </a:rPr>
              <a:t>Key loopholes</a:t>
            </a:r>
            <a:endParaRPr lang="en-US" sz="2200" dirty="0">
              <a:latin typeface="Myanmar Text" panose="020B0502040204020203" pitchFamily="34" charset="0"/>
              <a:cs typeface="Myanmar Text" panose="020B0502040204020203" pitchFamily="3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28224" y="4317444"/>
            <a:ext cx="3195876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Paper records → data loss and hard audits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Double bookings and check-in delays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Manual invoicing → billing mistakes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348" y="3592592"/>
            <a:ext cx="3664863" cy="3295293"/>
          </a:xfrm>
          <a:prstGeom prst="roundRect">
            <a:avLst>
              <a:gd name="adj" fmla="val 6195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19782" y="38270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Myanmar Text" panose="020B0502040204020203" pitchFamily="34" charset="0"/>
                <a:ea typeface="Noto Serif SC Bold" pitchFamily="34" charset="-122"/>
                <a:cs typeface="Myanmar Text" panose="020B0502040204020203" pitchFamily="34" charset="0"/>
              </a:rPr>
              <a:t>Business impact</a:t>
            </a:r>
            <a:endParaRPr lang="en-US" sz="2200" dirty="0">
              <a:latin typeface="Myanmar Text" panose="020B0502040204020203" pitchFamily="34" charset="0"/>
              <a:cs typeface="Myanmar Text" panose="020B0502040204020203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919782" y="4317444"/>
            <a:ext cx="3195995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Lower guest satisfaction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Lost revenue opportunities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Inefficient staff time use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0299" y="726400"/>
            <a:ext cx="4079438" cy="509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006747"/>
                </a:solidFill>
                <a:latin typeface="Myanmar Text" panose="020B0502040204020203" pitchFamily="34" charset="0"/>
                <a:ea typeface="Noto Serif SC Bold" pitchFamily="34" charset="-122"/>
                <a:cs typeface="Myanmar Text" panose="020B0502040204020203" pitchFamily="34" charset="0"/>
              </a:rPr>
              <a:t>Project Objectives</a:t>
            </a:r>
            <a:endParaRPr lang="en-US" sz="3200" dirty="0">
              <a:latin typeface="Myanmar Text" panose="020B0502040204020203" pitchFamily="34" charset="0"/>
              <a:cs typeface="Myanmar Text" panose="020B0502040204020203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00299" y="1511260"/>
            <a:ext cx="7716202" cy="619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Move from paper to a digital system that provides accurate, fast, and safe booking operations.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6200299" y="2633306"/>
            <a:ext cx="3172182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B4A4A"/>
                </a:solidFill>
                <a:latin typeface="Myanmar Text" panose="020B0502040204020203" pitchFamily="34" charset="0"/>
                <a:ea typeface="Noto Serif SC Bold" pitchFamily="34" charset="-122"/>
                <a:cs typeface="Myanmar Text" panose="020B0502040204020203" pitchFamily="34" charset="0"/>
              </a:rPr>
              <a:t>Real-time room tracking</a:t>
            </a:r>
            <a:endParaRPr lang="en-US" sz="2000" dirty="0">
              <a:latin typeface="Myanmar Text" panose="020B0502040204020203" pitchFamily="34" charset="0"/>
              <a:cs typeface="Myanmar Text" panose="020B0502040204020203" pitchFamily="34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6200299" y="2965148"/>
            <a:ext cx="7716202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Instant availability, holds, and status updates across channels.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6200299" y="3564271"/>
            <a:ext cx="2549604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B4A4A"/>
                </a:solidFill>
                <a:latin typeface="Myanmar Text" panose="020B0502040204020203" pitchFamily="34" charset="0"/>
                <a:ea typeface="Noto Serif SC Bold" pitchFamily="34" charset="-122"/>
                <a:cs typeface="Myanmar Text" panose="020B0502040204020203" pitchFamily="34" charset="0"/>
              </a:rPr>
              <a:t>Automated billing</a:t>
            </a:r>
            <a:endParaRPr lang="en-US" sz="2000" dirty="0">
              <a:latin typeface="Myanmar Text" panose="020B0502040204020203" pitchFamily="34" charset="0"/>
              <a:cs typeface="Myanmar Text" panose="020B0502040204020203" pitchFamily="34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6200299" y="3882882"/>
            <a:ext cx="7716202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Accurate invoices, tax calculations, discounts, and payments.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6200299" y="4456695"/>
            <a:ext cx="2927985" cy="31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4B4A4A"/>
                </a:solidFill>
                <a:latin typeface="Myanmar Text" panose="020B0502040204020203" pitchFamily="34" charset="0"/>
                <a:ea typeface="Noto Serif SC Bold" pitchFamily="34" charset="-122"/>
                <a:cs typeface="Myanmar Text" panose="020B0502040204020203" pitchFamily="34" charset="0"/>
              </a:rPr>
              <a:t>Efficient data retrieval</a:t>
            </a:r>
            <a:endParaRPr lang="en-US" sz="2000" dirty="0">
              <a:latin typeface="Myanmar Text" panose="020B0502040204020203" pitchFamily="34" charset="0"/>
              <a:cs typeface="Myanmar Text" panose="020B0502040204020203" pitchFamily="34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6200299" y="4790139"/>
            <a:ext cx="7716202" cy="309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Fast searches for reservations, guest history, and audit logs.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65453" y="1439355"/>
            <a:ext cx="7613094" cy="1093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00" b="1" dirty="0">
                <a:solidFill>
                  <a:srgbClr val="006747"/>
                </a:solidFill>
                <a:latin typeface="Myanmar Text" panose="020B0502040204020203" pitchFamily="34" charset="0"/>
                <a:ea typeface="Noto Serif SC Bold" pitchFamily="34" charset="-122"/>
                <a:cs typeface="Myanmar Text" panose="020B0502040204020203" pitchFamily="34" charset="0"/>
              </a:rPr>
              <a:t>System Context (ISM)</a:t>
            </a:r>
            <a:endParaRPr lang="en-US" sz="3400" dirty="0">
              <a:latin typeface="Myanmar Text" panose="020B0502040204020203" pitchFamily="34" charset="0"/>
              <a:cs typeface="Myanmar Text" panose="020B0502040204020203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65453" y="2073116"/>
            <a:ext cx="7613094" cy="687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Who interacts with the system and the technology backbone that supports it.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65453" y="3208377"/>
            <a:ext cx="2734032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006747"/>
                </a:solidFill>
                <a:latin typeface="Myanmar Text" panose="020B0502040204020203" pitchFamily="34" charset="0"/>
                <a:ea typeface="Noto Serif SC Bold" pitchFamily="34" charset="-122"/>
                <a:cs typeface="Myanmar Text" panose="020B0502040204020203" pitchFamily="34" charset="0"/>
              </a:rPr>
              <a:t>Primary users</a:t>
            </a:r>
            <a:endParaRPr lang="en-US" sz="2150" dirty="0">
              <a:latin typeface="Myanmar Text" panose="020B0502040204020203" pitchFamily="34" charset="0"/>
              <a:cs typeface="Myanmar Text" panose="020B0502040204020203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65453" y="3760946"/>
            <a:ext cx="3539728" cy="2970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Admin — system configuration, reports, user management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Front desk clerk — bookings, check-in/out, room assignment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Manager — revenue reports, occupancy dashboards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Customer — search, book, pay, view invoices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846439" y="3208377"/>
            <a:ext cx="2734032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b="1" dirty="0">
                <a:solidFill>
                  <a:srgbClr val="006747"/>
                </a:solidFill>
                <a:latin typeface="Myanmar Text" panose="020B0502040204020203" pitchFamily="34" charset="0"/>
                <a:ea typeface="Noto Serif SC Bold" pitchFamily="34" charset="-122"/>
                <a:cs typeface="Myanmar Text" panose="020B0502040204020203" pitchFamily="34" charset="0"/>
              </a:rPr>
              <a:t>Technology stack</a:t>
            </a:r>
            <a:endParaRPr lang="en-US" sz="2150" dirty="0">
              <a:latin typeface="Myanmar Text" panose="020B0502040204020203" pitchFamily="34" charset="0"/>
              <a:cs typeface="Myanmar Text" panose="020B0502040204020203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846439" y="3760946"/>
            <a:ext cx="3539728" cy="3731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Frontend: React or Vue for responsive UI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Backend: Node.js / Python (RESTful API)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Database: PostgreSQL (ACID) with relational schema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Payments: PCI-compliant gateway integration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Hosting: Cloud (AWS / Azure)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5212"/>
            <a:ext cx="516052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6747"/>
                </a:solidFill>
                <a:latin typeface="Myanmar Text" panose="020B0502040204020203" pitchFamily="34" charset="0"/>
                <a:ea typeface="Noto Serif SC Bold" pitchFamily="34" charset="-122"/>
                <a:cs typeface="Myanmar Text" panose="020B0502040204020203" pitchFamily="34" charset="0"/>
              </a:rPr>
              <a:t>Business Process Flow</a:t>
            </a:r>
            <a:endParaRPr lang="en-US" sz="3550" dirty="0">
              <a:latin typeface="Myanmar Text" panose="020B0502040204020203" pitchFamily="34" charset="0"/>
              <a:cs typeface="Myanmar Text" panose="020B0502040204020203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466" y="1391567"/>
            <a:ext cx="12625030" cy="473749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203535" y="5353242"/>
            <a:ext cx="1904234" cy="366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4B4A4A"/>
                </a:solidFill>
                <a:latin typeface="Myanmar Text" panose="020B0502040204020203" pitchFamily="34" charset="0"/>
                <a:ea typeface="Noto Serif SC Bold" pitchFamily="34" charset="-122"/>
                <a:cs typeface="Myanmar Text" panose="020B0502040204020203" pitchFamily="34" charset="0"/>
              </a:rPr>
              <a:t>Manage Stay</a:t>
            </a:r>
            <a:endParaRPr lang="en-US" sz="2300" dirty="0">
              <a:latin typeface="Myanmar Text" panose="020B0502040204020203" pitchFamily="34" charset="0"/>
              <a:cs typeface="Myanmar Text" panose="020B0502040204020203" pitchFamily="34" charset="0"/>
            </a:endParaRPr>
          </a:p>
        </p:txBody>
      </p:sp>
      <p:sp>
        <p:nvSpPr>
          <p:cNvPr id="7" name="Text 2"/>
          <p:cNvSpPr/>
          <p:nvPr/>
        </p:nvSpPr>
        <p:spPr>
          <a:xfrm>
            <a:off x="8803678" y="5169829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4B4A4A"/>
                </a:solidFill>
                <a:latin typeface="Myanmar Text" panose="020B0502040204020203" pitchFamily="34" charset="0"/>
                <a:ea typeface="Noto Serif SC Bold" pitchFamily="34" charset="-122"/>
                <a:cs typeface="Myanmar Text" panose="020B0502040204020203" pitchFamily="34" charset="0"/>
              </a:rPr>
              <a:t>Check-in &amp; Assign</a:t>
            </a:r>
            <a:endParaRPr lang="en-US" sz="2300" dirty="0">
              <a:latin typeface="Myanmar Text" panose="020B0502040204020203" pitchFamily="34" charset="0"/>
              <a:cs typeface="Myanmar Text" panose="020B0502040204020203" pitchFamily="34" charset="0"/>
            </a:endParaRPr>
          </a:p>
        </p:txBody>
      </p:sp>
      <p:sp>
        <p:nvSpPr>
          <p:cNvPr id="9" name="Text 3"/>
          <p:cNvSpPr/>
          <p:nvPr/>
        </p:nvSpPr>
        <p:spPr>
          <a:xfrm>
            <a:off x="6416864" y="5169829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4B4A4A"/>
                </a:solidFill>
                <a:latin typeface="Myanmar Text" panose="020B0502040204020203" pitchFamily="34" charset="0"/>
                <a:ea typeface="Noto Serif SC Bold" pitchFamily="34" charset="-122"/>
                <a:cs typeface="Myanmar Text" panose="020B0502040204020203" pitchFamily="34" charset="0"/>
              </a:rPr>
              <a:t>Confirm &amp; Authorize</a:t>
            </a:r>
            <a:endParaRPr lang="en-US" sz="2300" dirty="0">
              <a:latin typeface="Myanmar Text" panose="020B0502040204020203" pitchFamily="34" charset="0"/>
              <a:cs typeface="Myanmar Text" panose="020B0502040204020203" pitchFamily="34" charset="0"/>
            </a:endParaRPr>
          </a:p>
        </p:txBody>
      </p:sp>
      <p:sp>
        <p:nvSpPr>
          <p:cNvPr id="11" name="Text 4"/>
          <p:cNvSpPr/>
          <p:nvPr/>
        </p:nvSpPr>
        <p:spPr>
          <a:xfrm>
            <a:off x="4030050" y="5169829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4B4A4A"/>
                </a:solidFill>
                <a:latin typeface="Myanmar Text" panose="020B0502040204020203" pitchFamily="34" charset="0"/>
                <a:ea typeface="Noto Serif SC Bold" pitchFamily="34" charset="-122"/>
                <a:cs typeface="Myanmar Text" panose="020B0502040204020203" pitchFamily="34" charset="0"/>
              </a:rPr>
              <a:t>Select &amp; Hold</a:t>
            </a:r>
            <a:endParaRPr lang="en-US" sz="2300" dirty="0">
              <a:latin typeface="Myanmar Text" panose="020B0502040204020203" pitchFamily="34" charset="0"/>
              <a:cs typeface="Myanmar Text" panose="020B0502040204020203" pitchFamily="34" charset="0"/>
            </a:endParaRPr>
          </a:p>
        </p:txBody>
      </p:sp>
      <p:sp>
        <p:nvSpPr>
          <p:cNvPr id="13" name="Text 5"/>
          <p:cNvSpPr/>
          <p:nvPr/>
        </p:nvSpPr>
        <p:spPr>
          <a:xfrm>
            <a:off x="1591065" y="5169829"/>
            <a:ext cx="1904234" cy="733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4B4A4A"/>
                </a:solidFill>
                <a:latin typeface="Myanmar Text" panose="020B0502040204020203" pitchFamily="34" charset="0"/>
                <a:ea typeface="Noto Serif SC Bold" pitchFamily="34" charset="-122"/>
                <a:cs typeface="Myanmar Text" panose="020B0502040204020203" pitchFamily="34" charset="0"/>
              </a:rPr>
              <a:t>Search Rooms</a:t>
            </a:r>
            <a:endParaRPr lang="en-US" sz="2300" dirty="0">
              <a:latin typeface="Myanmar Text" panose="020B0502040204020203" pitchFamily="34" charset="0"/>
              <a:cs typeface="Myanmar Text" panose="020B0502040204020203" pitchFamily="34" charset="0"/>
            </a:endParaRPr>
          </a:p>
        </p:txBody>
      </p:sp>
      <p:sp>
        <p:nvSpPr>
          <p:cNvPr id="14" name="Text 6"/>
          <p:cNvSpPr/>
          <p:nvPr/>
        </p:nvSpPr>
        <p:spPr>
          <a:xfrm>
            <a:off x="814963" y="635464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diagram maps the customer journey and system actions: availability check, temporary holds to prevent double-booking, payment authorization at booking, live posting of charges during stay, and final invoice settlement at check-out.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2A0684-8670-4681-B38B-6E1C38DCBE27}"/>
              </a:ext>
            </a:extLst>
          </p:cNvPr>
          <p:cNvSpPr txBox="1"/>
          <p:nvPr/>
        </p:nvSpPr>
        <p:spPr>
          <a:xfrm>
            <a:off x="1514186" y="662151"/>
            <a:ext cx="5801014" cy="579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800"/>
              </a:lnSpc>
            </a:pPr>
            <a:r>
              <a:rPr lang="en-US" sz="4400" b="1" dirty="0">
                <a:solidFill>
                  <a:srgbClr val="006747"/>
                </a:solidFill>
                <a:latin typeface="MS Reference Sans Serif" panose="020B0604030504040204" pitchFamily="34" charset="0"/>
                <a:ea typeface="Noto Serif SC Bold" pitchFamily="34" charset="-122"/>
              </a:rPr>
              <a:t>Context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47A752-6243-40C0-AA0C-48D39E4FE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802" y="203147"/>
            <a:ext cx="9708439" cy="7823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711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1215"/>
            <a:ext cx="1150691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6747"/>
                </a:solidFill>
                <a:latin typeface="Myanmar Text" panose="020B0502040204020203" pitchFamily="34" charset="0"/>
                <a:ea typeface="Noto Serif SC Bold" pitchFamily="34" charset="-122"/>
                <a:cs typeface="Myanmar Text" panose="020B0502040204020203" pitchFamily="34" charset="0"/>
              </a:rPr>
              <a:t>Operational Workflows &amp; Module Responsibilities</a:t>
            </a:r>
            <a:endParaRPr lang="en-US" sz="3550" dirty="0">
              <a:latin typeface="Myanmar Text" panose="020B0502040204020203" pitchFamily="34" charset="0"/>
              <a:cs typeface="Myanmar Text" panose="020B0502040204020203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2851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6747"/>
                </a:solidFill>
                <a:latin typeface="Myanmar Text" panose="020B0502040204020203" pitchFamily="34" charset="0"/>
                <a:ea typeface="Noto Serif SC Bold" pitchFamily="34" charset="-122"/>
                <a:cs typeface="Myanmar Text" panose="020B0502040204020203" pitchFamily="34" charset="0"/>
              </a:rPr>
              <a:t>Receptionist</a:t>
            </a:r>
            <a:endParaRPr lang="en-US" sz="2200" dirty="0">
              <a:latin typeface="Myanmar Text" panose="020B0502040204020203" pitchFamily="34" charset="0"/>
              <a:cs typeface="Myanmar Text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286631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Search availability, create/modify reservations, check-in/out, apply charges.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8189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6747"/>
                </a:solidFill>
                <a:latin typeface="Myanmar Text" panose="020B0502040204020203" pitchFamily="34" charset="0"/>
                <a:ea typeface="Noto Serif SC Bold" pitchFamily="34" charset="-122"/>
                <a:cs typeface="Myanmar Text" panose="020B0502040204020203" pitchFamily="34" charset="0"/>
              </a:rPr>
              <a:t>Manager</a:t>
            </a:r>
            <a:endParaRPr lang="en-US" sz="2200" dirty="0">
              <a:latin typeface="Myanmar Text" panose="020B0502040204020203" pitchFamily="34" charset="0"/>
              <a:cs typeface="Myanmar Text" panose="020B0502040204020203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440007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View occupancy dashboards, generate revenue reports, approve overrides.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22851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6747"/>
                </a:solidFill>
                <a:latin typeface="Myanmar Text" panose="020B0502040204020203" pitchFamily="34" charset="0"/>
                <a:ea typeface="Noto Serif SC Bold" pitchFamily="34" charset="-122"/>
                <a:cs typeface="Myanmar Text" panose="020B0502040204020203" pitchFamily="34" charset="0"/>
              </a:rPr>
              <a:t>Admin</a:t>
            </a:r>
            <a:endParaRPr lang="en-US" sz="2200" dirty="0">
              <a:latin typeface="Myanmar Text" panose="020B0502040204020203" pitchFamily="34" charset="0"/>
              <a:cs typeface="Myanmar Text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99521" y="286631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Maintain room inventory, rates, tax settings, user accounts, and system configs.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38189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6747"/>
                </a:solidFill>
                <a:latin typeface="Myanmar Text" panose="020B0502040204020203" pitchFamily="34" charset="0"/>
                <a:ea typeface="Noto Serif SC Bold" pitchFamily="34" charset="-122"/>
                <a:cs typeface="Myanmar Text" panose="020B0502040204020203" pitchFamily="34" charset="0"/>
              </a:rPr>
              <a:t>Customer</a:t>
            </a:r>
            <a:endParaRPr lang="en-US" sz="2200" dirty="0">
              <a:latin typeface="Myanmar Text" panose="020B0502040204020203" pitchFamily="34" charset="0"/>
              <a:cs typeface="Myanmar Text" panose="020B050204020402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99521" y="440007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Self-service booking, payment, view/print invoices, cancel within policy.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5698483"/>
            <a:ext cx="13042821" cy="35957"/>
          </a:xfrm>
          <a:prstGeom prst="rect">
            <a:avLst/>
          </a:prstGeom>
          <a:solidFill>
            <a:srgbClr val="4B4A4A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93790" y="5989558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Example process: Receptionist places a temporary hold when a guest requests a room; system creates reservation and authorizes payment; hold converts to confirmed when payment completes; charges posted to reservation during stay; checkout triggers invoice generation.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2A0684-8670-4681-B38B-6E1C38DCBE27}"/>
              </a:ext>
            </a:extLst>
          </p:cNvPr>
          <p:cNvSpPr txBox="1"/>
          <p:nvPr/>
        </p:nvSpPr>
        <p:spPr>
          <a:xfrm>
            <a:off x="1514186" y="662151"/>
            <a:ext cx="5801014" cy="579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800"/>
              </a:lnSpc>
            </a:pPr>
            <a:r>
              <a:rPr lang="en-US" sz="4400" b="1" dirty="0">
                <a:solidFill>
                  <a:srgbClr val="006747"/>
                </a:solidFill>
                <a:latin typeface="MS Reference Sans Serif" panose="020B0604030504040204" pitchFamily="34" charset="0"/>
                <a:ea typeface="Noto Serif SC Bold" pitchFamily="34" charset="-122"/>
              </a:rPr>
              <a:t>DFD Diagram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288FB79-A680-4564-BF64-359DD7271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173" y="1339248"/>
            <a:ext cx="11582399" cy="664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963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F2A0684-8670-4681-B38B-6E1C38DCBE27}"/>
              </a:ext>
            </a:extLst>
          </p:cNvPr>
          <p:cNvSpPr txBox="1"/>
          <p:nvPr/>
        </p:nvSpPr>
        <p:spPr>
          <a:xfrm>
            <a:off x="305496" y="294289"/>
            <a:ext cx="5801014" cy="579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800"/>
              </a:lnSpc>
            </a:pPr>
            <a:r>
              <a:rPr lang="en-US" sz="4400" b="1" dirty="0">
                <a:solidFill>
                  <a:srgbClr val="006747"/>
                </a:solidFill>
                <a:latin typeface="MS Reference Sans Serif" panose="020B0604030504040204" pitchFamily="34" charset="0"/>
                <a:ea typeface="Noto Serif SC Bold" pitchFamily="34" charset="-122"/>
              </a:rPr>
              <a:t>ER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0C5D1E-F5FC-42D1-9346-30997FEA94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0" y="294289"/>
            <a:ext cx="9456737" cy="7795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433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8069" y="1241659"/>
            <a:ext cx="6253655" cy="52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00"/>
              </a:lnSpc>
            </a:pPr>
            <a:r>
              <a:rPr lang="en-US" sz="4400" b="1" dirty="0">
                <a:solidFill>
                  <a:srgbClr val="006747"/>
                </a:solidFill>
                <a:latin typeface="MS Reference Sans Serif" panose="020B0604030504040204" pitchFamily="34" charset="0"/>
                <a:ea typeface="Noto Serif SC Bold" pitchFamily="34" charset="-122"/>
                <a:cs typeface="Noto Serif SC Bold" pitchFamily="34" charset="-120"/>
              </a:rPr>
              <a:t>Database Design Details</a:t>
            </a:r>
            <a:endParaRPr lang="en-US" sz="4400" dirty="0">
              <a:latin typeface="MS Reference Sans Serif" panose="020B060403050404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680210" y="7525583"/>
            <a:ext cx="11269980" cy="224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Core tables and relationships enforce data integrity and allow strong queries for reporting and audits.</a:t>
            </a:r>
            <a:endParaRPr lang="en-US" sz="12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2A44CF-7903-40C2-9B8F-FF19C32450A8}"/>
              </a:ext>
            </a:extLst>
          </p:cNvPr>
          <p:cNvSpPr txBox="1"/>
          <p:nvPr/>
        </p:nvSpPr>
        <p:spPr>
          <a:xfrm>
            <a:off x="2186152" y="214411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30D52A84-819F-405A-90F7-F0BC477C9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070" y="1607378"/>
            <a:ext cx="13705490" cy="4585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Stores personal profiles including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customer_id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 (Primary Key), name, NIC / Passport (Unique), phone, and email (Unique)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Room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Tracks hotel inventory with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room_id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 (Primary Key),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room_type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floor_number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price_per_night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,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availability_status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Reservation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Links customers to rooms using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res_id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 (Primary Key),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customer_id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 (Foreign Key),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room_id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 (Foreign Key),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check_in_date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check_out_date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, and booking status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Records financial transactions with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payment_id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 (Primary Key),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res_id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 (Foreign Key), amount,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payment_method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,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payment_date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Invoice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Automatically generated billing records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containing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invoice_id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res_id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, subtotal, tax, total, and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generated_date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(Staff)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Manages internal access with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user_id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erlin Sans FB Demi" panose="020E0802020502020306" pitchFamily="34" charset="0"/>
                <a:ea typeface="Segoe UI Emoji" panose="020B0502040204020203" pitchFamily="34" charset="0"/>
              </a:rPr>
              <a:t>, username, password_#, and defined role.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58AF4E0-C854-4D31-9E05-1A0EE50B2AB6}"/>
              </a:ext>
            </a:extLst>
          </p:cNvPr>
          <p:cNvSpPr/>
          <p:nvPr/>
        </p:nvSpPr>
        <p:spPr>
          <a:xfrm>
            <a:off x="578069" y="1241659"/>
            <a:ext cx="6253655" cy="52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00"/>
              </a:lnSpc>
            </a:pPr>
            <a:r>
              <a:rPr lang="en-US" sz="4400" b="1" dirty="0">
                <a:solidFill>
                  <a:srgbClr val="006747"/>
                </a:solidFill>
                <a:latin typeface="MS Reference Sans Serif" panose="020B0604030504040204" pitchFamily="34" charset="0"/>
                <a:ea typeface="Noto Serif SC Bold" pitchFamily="34" charset="-122"/>
                <a:cs typeface="Noto Serif SC Bold" pitchFamily="34" charset="-120"/>
              </a:rPr>
              <a:t>Entity Relationships Details</a:t>
            </a:r>
            <a:endParaRPr lang="en-US" sz="4400" dirty="0">
              <a:latin typeface="MS Reference Sans Serif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BE6E4C-A6F0-4AA9-A383-C42899DA2C1D}"/>
              </a:ext>
            </a:extLst>
          </p:cNvPr>
          <p:cNvSpPr txBox="1"/>
          <p:nvPr/>
        </p:nvSpPr>
        <p:spPr>
          <a:xfrm>
            <a:off x="1460938" y="2406869"/>
            <a:ext cx="1262292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Customer to Reservation (One-to-Many ): A single customer can make multiple reservations 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Room to Reservation (One-to-Many ): One room can be reserved for different dates 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Reservation to Payment (One-to-One ): Each confirmed reservation produces one payment record 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Reservation to Invoice (One-to-One ): Every confirmed reservation generates a single invoice 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User to Reservation (One-to-Many): A staff member (User) can handle and manage multiple bookings .</a:t>
            </a:r>
          </a:p>
        </p:txBody>
      </p:sp>
    </p:spTree>
    <p:extLst>
      <p:ext uri="{BB962C8B-B14F-4D97-AF65-F5344CB8AC3E}">
        <p14:creationId xmlns:p14="http://schemas.microsoft.com/office/powerpoint/2010/main" val="3363644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49003"/>
            <a:ext cx="623851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450"/>
              </a:lnSpc>
            </a:pPr>
            <a:r>
              <a:rPr lang="en-US" sz="3550" b="1" dirty="0">
                <a:solidFill>
                  <a:srgbClr val="006747"/>
                </a:solidFill>
                <a:latin typeface="Myanmar Text" panose="020B0502040204020203" pitchFamily="34" charset="0"/>
                <a:ea typeface="Noto Serif SC Bold" pitchFamily="34" charset="-122"/>
                <a:cs typeface="Myanmar Text" panose="020B0502040204020203" pitchFamily="34" charset="0"/>
              </a:rPr>
              <a:t>System modules and Security</a:t>
            </a: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69607"/>
            <a:ext cx="883920" cy="1104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1197" y="2569607"/>
            <a:ext cx="208528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Myanmar Text" panose="020B0502040204020203" pitchFamily="34" charset="0"/>
                <a:ea typeface="Noto Serif SC Bold" pitchFamily="34" charset="-122"/>
                <a:cs typeface="Myanmar Text" panose="020B0502040204020203" pitchFamily="34" charset="0"/>
              </a:rPr>
              <a:t>Authentication</a:t>
            </a:r>
            <a:endParaRPr lang="en-US" sz="2200" dirty="0">
              <a:latin typeface="Myanmar Text" panose="020B0502040204020203" pitchFamily="34" charset="0"/>
              <a:cs typeface="Myanmar Text" panose="020B0502040204020203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961197" y="3414355"/>
            <a:ext cx="1880592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Username/password , Password policies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2569607"/>
            <a:ext cx="883920" cy="1104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92685" y="2569607"/>
            <a:ext cx="188071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Myanmar Text" panose="020B0502040204020203" pitchFamily="34" charset="0"/>
                <a:ea typeface="Noto Serif SC Bold" pitchFamily="34" charset="-122"/>
                <a:cs typeface="Myanmar Text" panose="020B0502040204020203" pitchFamily="34" charset="0"/>
              </a:rPr>
              <a:t>Role-based access</a:t>
            </a:r>
            <a:endParaRPr lang="en-US" sz="2200" dirty="0">
              <a:latin typeface="Myanmar Text" panose="020B0502040204020203" pitchFamily="34" charset="0"/>
              <a:cs typeface="Myanmar Text" panose="020B0502040204020203" pitchFamily="34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5292684" y="3414355"/>
            <a:ext cx="1880711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Manager, Receptionist, Guest. permissions per role.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2569607"/>
            <a:ext cx="883920" cy="11049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24292" y="2569607"/>
            <a:ext cx="188071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Myanmar Text" panose="020B0502040204020203" pitchFamily="34" charset="0"/>
                <a:ea typeface="Noto Serif SC Bold" pitchFamily="34" charset="-122"/>
                <a:cs typeface="Myanmar Text" panose="020B0502040204020203" pitchFamily="34" charset="0"/>
              </a:rPr>
              <a:t>Data backup &amp; retention</a:t>
            </a:r>
            <a:endParaRPr lang="en-US" sz="2200" dirty="0">
              <a:latin typeface="Myanmar Text" panose="020B0502040204020203" pitchFamily="34" charset="0"/>
              <a:cs typeface="Myanmar Text" panose="020B0502040204020203" pitchFamily="34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8624292" y="3414355"/>
            <a:ext cx="1880711" cy="326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Daily backups, weekly full snapshots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2569607"/>
            <a:ext cx="883920" cy="11049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955899" y="2569607"/>
            <a:ext cx="188071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Myanmar Text" panose="020B0502040204020203" pitchFamily="34" charset="0"/>
                <a:ea typeface="Noto Serif SC Bold" pitchFamily="34" charset="-122"/>
                <a:cs typeface="Myanmar Text" panose="020B0502040204020203" pitchFamily="34" charset="0"/>
              </a:rPr>
              <a:t>Payments &amp; compliance</a:t>
            </a:r>
            <a:endParaRPr lang="en-US" sz="2200" dirty="0">
              <a:latin typeface="Myanmar Text" panose="020B0502040204020203" pitchFamily="34" charset="0"/>
              <a:cs typeface="Myanmar Text" panose="020B0502040204020203" pitchFamily="34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11955899" y="3414355"/>
            <a:ext cx="1880711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 Safer gateway,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 protect Transfer and account information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7758"/>
            <a:ext cx="754689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6747"/>
                </a:solidFill>
                <a:latin typeface="MS PGothic" panose="020B0600070205080204" pitchFamily="34" charset="-128"/>
                <a:ea typeface="MS PGothic" panose="020B0600070205080204" pitchFamily="34" charset="-128"/>
                <a:cs typeface="Noto Serif SC Bold" pitchFamily="34" charset="-120"/>
              </a:rPr>
              <a:t>Expected Outcomes &amp; Next Steps</a:t>
            </a:r>
            <a:endParaRPr lang="en-US" sz="3550" dirty="0">
              <a:latin typeface="MS PGothic" panose="020B0600070205080204" pitchFamily="34" charset="-128"/>
              <a:ea typeface="MS PGothic" panose="020B0600070205080204" pitchFamily="34" charset="-128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128361"/>
            <a:ext cx="4196358" cy="4012525"/>
          </a:xfrm>
          <a:prstGeom prst="roundRect">
            <a:avLst>
              <a:gd name="adj" fmla="val 5088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2362795"/>
            <a:ext cx="35860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Myanmar Text" panose="020B0502040204020203" pitchFamily="34" charset="0"/>
                <a:ea typeface="Noto Serif SC Bold" pitchFamily="34" charset="-122"/>
                <a:cs typeface="Myanmar Text" panose="020B0502040204020203" pitchFamily="34" charset="0"/>
              </a:rPr>
              <a:t>Measured improvements</a:t>
            </a:r>
            <a:endParaRPr lang="en-US" sz="2200" dirty="0">
              <a:latin typeface="Myanmar Text" panose="020B0502040204020203" pitchFamily="34" charset="0"/>
              <a:cs typeface="Myanmar Text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28224" y="2853214"/>
            <a:ext cx="3727490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~90% reduction in booking errors (target)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100% billing accuracy with automated invoice generation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Faster check-in/out and improved guest satisfaction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128361"/>
            <a:ext cx="4196358" cy="4012525"/>
          </a:xfrm>
          <a:prstGeom prst="roundRect">
            <a:avLst>
              <a:gd name="adj" fmla="val 5088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1396" y="2362795"/>
            <a:ext cx="37274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Myanmar Text" panose="020B0502040204020203" pitchFamily="34" charset="0"/>
                <a:ea typeface="Noto Serif SC Bold" pitchFamily="34" charset="-122"/>
                <a:cs typeface="Myanmar Text" panose="020B0502040204020203" pitchFamily="34" charset="0"/>
              </a:rPr>
              <a:t>Implementation roadmap (next 90 days)</a:t>
            </a:r>
            <a:endParaRPr lang="en-US" sz="2200" dirty="0">
              <a:latin typeface="Myanmar Text" panose="020B0502040204020203" pitchFamily="34" charset="0"/>
              <a:cs typeface="Myanmar Text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51396" y="3207544"/>
            <a:ext cx="3727490" cy="269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Design &amp; data model finalization (2 weeks)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Core module development: bookings, payments, rooms (6 weeks)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Integration, testing, and staff training (4 weeks)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128361"/>
            <a:ext cx="4196358" cy="4012525"/>
          </a:xfrm>
          <a:prstGeom prst="roundRect">
            <a:avLst>
              <a:gd name="adj" fmla="val 5088"/>
            </a:avLst>
          </a:prstGeom>
          <a:solidFill>
            <a:srgbClr val="D1EFE4"/>
          </a:solidFill>
          <a:ln w="7620">
            <a:solidFill>
              <a:srgbClr val="B7D5C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874568" y="23627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B4A4A"/>
                </a:solidFill>
                <a:latin typeface="Myanmar Text" panose="020B0502040204020203" pitchFamily="34" charset="0"/>
                <a:ea typeface="Noto Serif SC Bold" pitchFamily="34" charset="-122"/>
                <a:cs typeface="Myanmar Text" panose="020B0502040204020203" pitchFamily="34" charset="0"/>
              </a:rPr>
              <a:t>Success criteria</a:t>
            </a:r>
            <a:endParaRPr lang="en-US" sz="2200" dirty="0">
              <a:latin typeface="Myanmar Text" panose="020B0502040204020203" pitchFamily="34" charset="0"/>
              <a:cs typeface="Myanmar Text" panose="020B0502040204020203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874568" y="2853214"/>
            <a:ext cx="3727490" cy="197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Automated reports available daily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Audit logs for all booking/payment actions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Backup restore verified monthly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DF4298-5EEF-4786-8D76-A620C92FDB68}"/>
              </a:ext>
            </a:extLst>
          </p:cNvPr>
          <p:cNvSpPr txBox="1"/>
          <p:nvPr/>
        </p:nvSpPr>
        <p:spPr>
          <a:xfrm>
            <a:off x="2743200" y="1408386"/>
            <a:ext cx="93331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Questions and Discussions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D17F9C-8209-4424-A3F1-4C040B7E6F8E}"/>
              </a:ext>
            </a:extLst>
          </p:cNvPr>
          <p:cNvSpPr txBox="1"/>
          <p:nvPr/>
        </p:nvSpPr>
        <p:spPr>
          <a:xfrm>
            <a:off x="2963917" y="2543503"/>
            <a:ext cx="10489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welcome Questions about our proposed system for Hotel booking and reservation</a:t>
            </a:r>
          </a:p>
          <a:p>
            <a:r>
              <a:rPr lang="en-US" dirty="0"/>
              <a:t>Please feel free to ask anything about the system's design, functionality, or implementation plan</a:t>
            </a:r>
          </a:p>
        </p:txBody>
      </p:sp>
    </p:spTree>
    <p:extLst>
      <p:ext uri="{BB962C8B-B14F-4D97-AF65-F5344CB8AC3E}">
        <p14:creationId xmlns:p14="http://schemas.microsoft.com/office/powerpoint/2010/main" val="615984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B8E9BA-ED9A-4599-9015-18237291036C}"/>
              </a:ext>
            </a:extLst>
          </p:cNvPr>
          <p:cNvSpPr/>
          <p:nvPr/>
        </p:nvSpPr>
        <p:spPr>
          <a:xfrm>
            <a:off x="3657600" y="2637472"/>
            <a:ext cx="73152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5400" dirty="0"/>
              <a:t>Thank You for Your Time </a:t>
            </a:r>
            <a:r>
              <a:rPr lang="en-US" dirty="0"/>
              <a:t>We sincerely appreciate your valuable attention and insightful feedback during this presentation. </a:t>
            </a:r>
          </a:p>
        </p:txBody>
      </p:sp>
    </p:spTree>
    <p:extLst>
      <p:ext uri="{BB962C8B-B14F-4D97-AF65-F5344CB8AC3E}">
        <p14:creationId xmlns:p14="http://schemas.microsoft.com/office/powerpoint/2010/main" val="2998027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479</TotalTime>
  <Words>937</Words>
  <Application>Microsoft Office PowerPoint</Application>
  <PresentationFormat>Custom</PresentationFormat>
  <Paragraphs>110</Paragraphs>
  <Slides>15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Gill Sans MT</vt:lpstr>
      <vt:lpstr>Berlin Sans FB Demi</vt:lpstr>
      <vt:lpstr>Myanmar Text</vt:lpstr>
      <vt:lpstr>Arial</vt:lpstr>
      <vt:lpstr>Calibri</vt:lpstr>
      <vt:lpstr>MS PGothic</vt:lpstr>
      <vt:lpstr>Geist</vt:lpstr>
      <vt:lpstr>Segoe UI Emoji</vt:lpstr>
      <vt:lpstr>Yu Gothic Medium</vt:lpstr>
      <vt:lpstr>MS Reference Sans Serif</vt:lpstr>
      <vt:lpstr>Noto Serif SC Bold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MaStar</cp:lastModifiedBy>
  <cp:revision>32</cp:revision>
  <dcterms:created xsi:type="dcterms:W3CDTF">2026-04-03T09:22:19Z</dcterms:created>
  <dcterms:modified xsi:type="dcterms:W3CDTF">2026-04-08T04:38:39Z</dcterms:modified>
</cp:coreProperties>
</file>